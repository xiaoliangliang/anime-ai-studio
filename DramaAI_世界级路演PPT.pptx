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1828800"/>
            <a:ext cx="2743200" cy="2743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DramaAI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F2FE"/>
                </a:solidFill>
                <a:latin typeface="微软雅黑"/>
              </a:defRPr>
            </a:pPr>
            <a:r>
              <a:t>AI短剧一站式创作平台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73152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编剧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4114800"/>
            <a:ext cx="731520" cy="731520"/>
          </a:xfrm>
          <a:prstGeom prst="rect">
            <a:avLst/>
          </a:prstGeom>
          <a:solidFill>
            <a:srgbClr val="F093FB"/>
          </a:solidFill>
          <a:ln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49377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分镜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114800"/>
            <a:ext cx="731520" cy="731520"/>
          </a:xfrm>
          <a:prstGeom prst="rect">
            <a:avLst/>
          </a:prstGeom>
          <a:solidFill>
            <a:srgbClr val="F5576C"/>
          </a:solidFill>
          <a:ln>
            <a:solidFill>
              <a:srgbClr val="F55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9377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114800"/>
            <a:ext cx="731520" cy="731520"/>
          </a:xfrm>
          <a:prstGeom prst="rect">
            <a:avLst/>
          </a:prstGeom>
          <a:solidFill>
            <a:srgbClr val="4FACFE"/>
          </a:solidFill>
          <a:ln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9377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美工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114800"/>
            <a:ext cx="731520" cy="73152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9377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导演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EC0"/>
                </a:solidFill>
                <a:latin typeface="微软雅黑"/>
              </a:defRPr>
            </a:pPr>
            <a:r>
              <a:t>让每个人都能成为动漫导演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创作之痛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2011680" cy="22860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3-6个月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微软雅黑"/>
              </a:defRPr>
            </a:pPr>
            <a:r>
              <a:t>创作周期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286000"/>
            <a:ext cx="2011680" cy="22860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560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10人团队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微软雅黑"/>
              </a:defRPr>
            </a:pPr>
            <a:r>
              <a:t>人力需求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286000"/>
            <a:ext cx="2011680" cy="22860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60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50万元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微软雅黑"/>
              </a:defRPr>
            </a:pPr>
            <a:r>
              <a:t>制作成本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F2FE"/>
                </a:solidFill>
                <a:latin typeface="微软雅黑"/>
              </a:defRPr>
            </a:pPr>
            <a:r>
              <a:t>DramaAI 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微软雅黑"/>
              </a:defRPr>
            </a:pPr>
            <a:r>
              <a:t>3小时 · 1个人 · 几百元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五阶段AI创作流水线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9080" y="4343400"/>
            <a:ext cx="1005840" cy="100584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4663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编剧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49834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A0E27"/>
                </a:solidFill>
                <a:latin typeface="微软雅黑"/>
              </a:defRPr>
            </a:pPr>
            <a:r>
              <a:t>剧本大纲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4442" y="3206097"/>
            <a:ext cx="1005840" cy="1005840"/>
          </a:xfrm>
          <a:prstGeom prst="rect">
            <a:avLst/>
          </a:prstGeom>
          <a:solidFill>
            <a:srgbClr val="F093FB"/>
          </a:solidFill>
          <a:ln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4442" y="3526137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分镜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4442" y="3846177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A0E27"/>
                </a:solidFill>
                <a:latin typeface="微软雅黑"/>
              </a:defRPr>
            </a:pPr>
            <a:r>
              <a:t>镜头拆解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6527" y="1365902"/>
            <a:ext cx="1005840" cy="1005840"/>
          </a:xfrm>
          <a:prstGeom prst="rect">
            <a:avLst/>
          </a:prstGeom>
          <a:solidFill>
            <a:srgbClr val="F5576C"/>
          </a:solidFill>
          <a:ln>
            <a:solidFill>
              <a:srgbClr val="F55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6527" y="168594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6527" y="200598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A0E27"/>
                </a:solidFill>
                <a:latin typeface="微软雅黑"/>
              </a:defRPr>
            </a:pPr>
            <a:r>
              <a:t>提示词生成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632" y="1365902"/>
            <a:ext cx="1005840" cy="1005840"/>
          </a:xfrm>
          <a:prstGeom prst="rect">
            <a:avLst/>
          </a:prstGeom>
          <a:solidFill>
            <a:srgbClr val="4FACFE"/>
          </a:solidFill>
          <a:ln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1632" y="168594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美工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1632" y="200598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A0E27"/>
                </a:solidFill>
                <a:latin typeface="微软雅黑"/>
              </a:defRPr>
            </a:pPr>
            <a:r>
              <a:t>参考图生成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3717" y="3206097"/>
            <a:ext cx="1005840" cy="10058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3717" y="3526137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导演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3717" y="3846177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A0E27"/>
                </a:solidFill>
                <a:latin typeface="微软雅黑"/>
              </a:defRPr>
            </a:pPr>
            <a:r>
              <a:t>视频生成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834640"/>
            <a:ext cx="1097280" cy="73152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0632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E27"/>
                </a:solidFill>
                <a:latin typeface="Arial"/>
              </a:defRPr>
            </a:pPr>
            <a:r>
              <a:t>DramaAI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  <a:latin typeface="微软雅黑"/>
              </a:defRPr>
            </a:pPr>
            <a:r>
              <a:t>StaleTracker 数据管理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  <a:latin typeface="微软雅黑"/>
              </a:defRPr>
            </a:pPr>
            <a:r>
              <a:t>无限画布 + AI对话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  <a:latin typeface="微软雅黑"/>
              </a:defRPr>
            </a:pPr>
            <a:r>
              <a:t>流式AI响应系统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5486400" cy="6400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1031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前端层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148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0E27"/>
                </a:solidFill>
                <a:latin typeface="Arial"/>
              </a:defRPr>
            </a:pPr>
            <a:r>
              <a:t>React 18 + TypeScript + Vite + tldraw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88920"/>
            <a:ext cx="5486400" cy="640080"/>
          </a:xfrm>
          <a:prstGeom prst="rect">
            <a:avLst/>
          </a:prstGeom>
          <a:solidFill>
            <a:srgbClr val="F5576C"/>
          </a:solidFill>
          <a:ln>
            <a:solidFill>
              <a:srgbClr val="F55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8803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状态层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926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0E27"/>
                </a:solidFill>
                <a:latin typeface="Arial"/>
              </a:defRPr>
            </a:pPr>
            <a:r>
              <a:t>ProjectContext + IndexedDB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66160"/>
            <a:ext cx="5486400" cy="640080"/>
          </a:xfrm>
          <a:prstGeom prst="rect">
            <a:avLst/>
          </a:prstGeom>
          <a:solidFill>
            <a:srgbClr val="4FACFE"/>
          </a:solidFill>
          <a:ln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API层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703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0E27"/>
                </a:solidFill>
                <a:latin typeface="Arial"/>
              </a:defRPr>
            </a:pPr>
            <a:r>
              <a:t>Vercel Serverless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343400"/>
            <a:ext cx="5486400" cy="64008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434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E27"/>
                </a:solidFill>
                <a:latin typeface="微软雅黑"/>
              </a:defRPr>
            </a:pPr>
            <a:r>
              <a:t>AI层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480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0E27"/>
                </a:solidFill>
                <a:latin typeface="Arial"/>
              </a:defRPr>
            </a:pPr>
            <a:r>
              <a:t>Claude 4.5 + RunComfy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2FE"/>
                </a:solidFill>
                <a:latin typeface="微软雅黑"/>
              </a:defRPr>
            </a:pPr>
            <a:r>
              <a:t>全球首个基于无限画布的AI漫剧创作平台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价值提升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2286000" cy="18288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720倍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微软雅黑"/>
              </a:defRPr>
            </a:pPr>
            <a:r>
              <a:t>时间效率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  <a:latin typeface="微软雅黑"/>
              </a:defRPr>
            </a:pPr>
            <a:r>
              <a:t>3个月 → 3小时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286000"/>
            <a:ext cx="2286000" cy="18288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微软雅黑"/>
              </a:defRPr>
            </a:pPr>
            <a:r>
              <a:t>人力效率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  <a:latin typeface="微软雅黑"/>
              </a:defRPr>
            </a:pPr>
            <a:r>
              <a:t>10人 → 1人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2286000" cy="18288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1000倍+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微软雅黑"/>
              </a:defRPr>
            </a:pPr>
            <a:r>
              <a:t>成本效率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74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FFFFFF"/>
                </a:solidFill>
                <a:latin typeface="微软雅黑"/>
              </a:defRPr>
            </a:pPr>
            <a:r>
              <a:t>50万 → 几百元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F2FE"/>
                </a:solidFill>
                <a:latin typeface="微软雅黑"/>
              </a:defRPr>
            </a:pPr>
            <a:r>
              <a:t>商业价值预测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微软雅黑"/>
              </a:defRPr>
            </a:pPr>
            <a:r>
              <a:t>第一年: 60万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微软雅黑"/>
              </a:defRPr>
            </a:pPr>
            <a:r>
              <a:t>第二年: 600万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微软雅黑"/>
              </a:defRPr>
            </a:pPr>
            <a:r>
              <a:t>第三年: 6000万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发展路线图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468880" cy="27432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短期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3-6个月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图片生成功能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视频生成功能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用户系统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云端同步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468880" cy="2743200"/>
          </a:xfrm>
          <a:prstGeom prst="rect">
            <a:avLst/>
          </a:prstGeom>
          <a:solidFill>
            <a:srgbClr val="F5576C"/>
          </a:solidFill>
          <a:ln>
            <a:solidFill>
              <a:srgbClr val="F55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9659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中期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6-12个月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AI模型市场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协作功能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375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移动端适配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576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API开放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468880" cy="2743200"/>
          </a:xfrm>
          <a:prstGeom prst="rect">
            <a:avLst/>
          </a:prstGeom>
          <a:solidFill>
            <a:srgbClr val="4FACFE"/>
          </a:solidFill>
          <a:ln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659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长期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8600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微软雅黑"/>
              </a:defRPr>
            </a:pPr>
            <a:r>
              <a:t>1-3年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成为AI时代的Adobe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17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多领域扩展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375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国际化布局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5760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微软雅黑"/>
              </a:defRPr>
            </a:pPr>
            <a:r>
              <a:t>• 企业服务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2FE"/>
                </a:solidFill>
                <a:latin typeface="微软雅黑"/>
              </a:defRPr>
            </a:pPr>
            <a:r>
              <a:t>愿景：让每个人都能成为动漫导演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DramaAI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2FE"/>
                </a:solidFill>
                <a:latin typeface="微软雅黑"/>
              </a:defRPr>
            </a:pPr>
            <a:r>
              <a:t>让每个人都能成为动漫导演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011680"/>
            <a:ext cx="2743200" cy="1828800"/>
          </a:xfrm>
          <a:prstGeom prst="rect">
            <a:avLst/>
          </a:prstGeom>
          <a:noFill/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  <a:latin typeface="微软雅黑"/>
              </a:defRPr>
            </a:pPr>
            <a:r>
              <a:t>网站: https://animeaistudio.com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09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  <a:latin typeface="微软雅黑"/>
              </a:defRPr>
            </a:pPr>
            <a:r>
              <a:t>邮箱: contact@animeaistudio.com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  <a:latin typeface="微软雅黑"/>
              </a:defRPr>
            </a:pPr>
            <a:r>
              <a:t>GitHub: github.com/dramaai/dramaai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0AEC0"/>
                </a:solidFill>
                <a:latin typeface="微软雅黑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